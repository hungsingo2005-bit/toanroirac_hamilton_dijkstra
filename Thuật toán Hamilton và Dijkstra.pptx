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1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A25"/>
    <a:srgbClr val="0C325A"/>
    <a:srgbClr val="1F3C88"/>
    <a:srgbClr val="091330"/>
    <a:srgbClr val="112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D3DA-462E-E592-A92F-AA404F633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BC631-DF8A-7E60-53FB-77DBB2D88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21BC4-02EF-92D4-BBC1-152FA223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2765D-F6A4-15E5-6E42-07629B29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E2C95-88FC-FA51-92AA-D994EF5F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98FC-D01E-5398-4895-FD7A61C3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965D-97D3-4D75-98C8-0F2F3266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49A0-D89E-C7A6-7DEB-D2B84884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1C94B-3714-80A5-DA62-92AE001F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DB5D6-9C56-67DB-5FE1-31F09F2E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6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2B98-DBE8-520D-909C-C8865924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585DD-B930-246E-4DC3-C7E2919D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37C04-ADA0-92DA-C383-120C51ED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4EABB-5446-16FD-E2BD-77A88C7A5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F9640-1233-5E11-7B22-D7666EBA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3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F027-CB6B-4A85-539E-BA8629E4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EB3E-0DF8-973B-1D98-775506BB9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CE853-A63D-EB2C-4FD3-7803F6216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42F21-ADC6-A624-E780-A55C6404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9B99C-AA89-A1ED-5F3D-4B50A52F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A5DF8-F3AE-9C78-146A-CC060E6D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0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98B1-3A75-7D04-FA25-A7B8FB33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DAFF3-9397-D2A8-CDA2-B9186A7EE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3DB4F-A2AD-6A47-1165-7545770B9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C1818-E6C3-E6DD-D8B7-4C275566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CA2B8-254A-3028-B685-500D2CE7B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32185-F85D-18E8-55B4-FA686881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3311FE-0DBD-7F0F-5BCA-1653640A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5483B-3D58-FE1B-EBDF-F1AF6F52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5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6CC3-23E6-6775-2FA2-31F8B1AF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A67B9-FF30-CA64-0416-8636F60A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1090E-5D8C-4DE9-35A4-CEACFE8F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541A56-2E3C-FBC8-6B69-57249624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1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59D43-F47B-31C6-2A32-27361C04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1FC23-01D9-6124-8324-8909A828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E426B-45B7-BEE9-2B10-55A5A959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63EE-2D36-5CAA-70E9-CF21730B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FD8D-59F9-234C-9BD6-BF025DF53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1FBE2-3804-882F-C55F-EDA84DFD0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345D9-283D-2E95-F165-4DFE0571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51AE7-D625-E208-192A-FCBC5F67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4A3DF-0ECB-005F-D786-7DC5C52E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5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0F7A-3E8F-795A-EA19-56C0F845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E1BF2-CF46-F763-E479-76F1DDDB0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49B6F-3CFE-92B8-06FA-23FA5D118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8FA03-C927-B67D-B52E-454AA704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8B7C1-7BC3-D745-2A67-CD3BCF0A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0E56-876E-7B38-E43A-F4A58591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7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2935-B18B-BBF5-0564-6D6D9ECB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1183F-D25C-E137-5583-9D8ADD5E2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0079D-016A-E505-BFFF-4D1EDCE5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56C9C-EDFC-5F1E-6215-A6C43AA9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4418-4245-8E61-0BB3-F42909FC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8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94EFD-635B-8410-919A-02A0D1F69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532C4-9D2E-7AC0-47B0-BD90F4F2A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E9213-1754-66BE-19D8-3DF53E6D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FB4C1-6AE5-DEB7-9172-D29FD6E1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E3AAA-C092-98C3-627E-D2C1DB6F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4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E36D6-28C4-52F5-4DF9-1EA70C21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F7934-403A-F8C3-FD7A-2709C07C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75501-421D-CFBD-0415-AEFCEB12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74B2D-6A1B-4E9F-814A-830BABDB4DEC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59C11-F81F-3EF8-A7BE-64B856E76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F3FB4-6CBE-AC79-3AE6-D5A9B41EF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6FE6-4217-4E80-BD97-C89D08CA2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3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21FD-B502-D63C-7839-B9F428E9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BEE0-1831-1F26-7A82-657421CE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2000" b="1" dirty="0">
                <a:solidFill>
                  <a:srgbClr val="0C325A"/>
                </a:solidFill>
              </a:rPr>
              <a:t>MÔN HỌC: TOÁN RỜI RẠC</a:t>
            </a:r>
            <a:endParaRPr lang="en-US" sz="2000" b="1" dirty="0">
              <a:solidFill>
                <a:srgbClr val="0C325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42F3-383D-AAAC-93DC-E0C9F2040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vi-VN" sz="4000" b="1" dirty="0">
                <a:solidFill>
                  <a:srgbClr val="0C325A"/>
                </a:solidFill>
                <a:latin typeface="+mj-lt"/>
              </a:rPr>
              <a:t>THUẬT TOÁN</a:t>
            </a:r>
            <a:br>
              <a:rPr lang="vi-VN" sz="4000" b="1" dirty="0">
                <a:solidFill>
                  <a:srgbClr val="0C325A"/>
                </a:solidFill>
                <a:latin typeface="+mj-lt"/>
              </a:rPr>
            </a:br>
            <a:r>
              <a:rPr lang="vi-VN" sz="4000" b="1" dirty="0">
                <a:solidFill>
                  <a:srgbClr val="0C325A"/>
                </a:solidFill>
                <a:latin typeface="+mj-lt"/>
              </a:rPr>
              <a:t>HAMILTON VÀ DIJKSTRA</a:t>
            </a:r>
            <a:endParaRPr lang="en-US" sz="4000" b="1" dirty="0">
              <a:solidFill>
                <a:srgbClr val="0C325A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ABBA1-2E39-7850-A792-E1D6B3E0C3E3}"/>
              </a:ext>
            </a:extLst>
          </p:cNvPr>
          <p:cNvSpPr txBox="1"/>
          <p:nvPr/>
        </p:nvSpPr>
        <p:spPr>
          <a:xfrm>
            <a:off x="4872990" y="3429000"/>
            <a:ext cx="2446020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solidFill>
                  <a:srgbClr val="0C325A"/>
                </a:solidFill>
                <a:latin typeface="+mj-lt"/>
              </a:rPr>
              <a:t>Giảng viên hướng dẫn:</a:t>
            </a:r>
            <a:br>
              <a:rPr lang="vi-VN" b="1" dirty="0">
                <a:solidFill>
                  <a:srgbClr val="0C325A"/>
                </a:solidFill>
                <a:latin typeface="+mj-lt"/>
              </a:rPr>
            </a:br>
            <a:r>
              <a:rPr lang="vi-VN" dirty="0">
                <a:solidFill>
                  <a:srgbClr val="0D1A25"/>
                </a:solidFill>
                <a:latin typeface="+mj-lt"/>
              </a:rPr>
              <a:t>Nguyễn Hoàng Điệp</a:t>
            </a:r>
            <a:endParaRPr lang="en-US" dirty="0">
              <a:solidFill>
                <a:srgbClr val="0D1A25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96F05-5E7E-3CF4-3295-8CCE246B5A87}"/>
              </a:ext>
            </a:extLst>
          </p:cNvPr>
          <p:cNvSpPr txBox="1"/>
          <p:nvPr/>
        </p:nvSpPr>
        <p:spPr>
          <a:xfrm>
            <a:off x="4872990" y="4585707"/>
            <a:ext cx="6094476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solidFill>
                  <a:srgbClr val="0C325A"/>
                </a:solidFill>
                <a:latin typeface="+mj-lt"/>
              </a:rPr>
              <a:t>Sinh viên thực hiện:</a:t>
            </a:r>
            <a:br>
              <a:rPr lang="vi-VN" b="1" dirty="0">
                <a:solidFill>
                  <a:srgbClr val="0C325A"/>
                </a:solidFill>
                <a:latin typeface="+mj-lt"/>
              </a:rPr>
            </a:br>
            <a:r>
              <a:rPr lang="vi-VN" dirty="0">
                <a:solidFill>
                  <a:srgbClr val="0D1A25"/>
                </a:solidFill>
                <a:latin typeface="+mj-lt"/>
              </a:rPr>
              <a:t>Lê Nguyễn Mạnh Hùng</a:t>
            </a:r>
            <a:br>
              <a:rPr lang="vi-VN" dirty="0">
                <a:solidFill>
                  <a:srgbClr val="0D1A25"/>
                </a:solidFill>
                <a:latin typeface="+mj-lt"/>
              </a:rPr>
            </a:br>
            <a:r>
              <a:rPr lang="vi-VN" dirty="0">
                <a:solidFill>
                  <a:srgbClr val="0D1A25"/>
                </a:solidFill>
                <a:latin typeface="+mj-lt"/>
              </a:rPr>
              <a:t>Lê Quang Huân</a:t>
            </a:r>
            <a:endParaRPr lang="en-US" dirty="0">
              <a:solidFill>
                <a:srgbClr val="0D1A25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0639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7CBC-B1E0-04E3-89A9-489CA595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608F-5DA0-C909-3967-D13CAD66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000" b="1" dirty="0">
                <a:solidFill>
                  <a:srgbClr val="0C325A"/>
                </a:solidFill>
              </a:rPr>
              <a:t>GIỚI THIỆU</a:t>
            </a:r>
            <a:endParaRPr lang="en-US" sz="4000" b="1" dirty="0">
              <a:solidFill>
                <a:srgbClr val="0C325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58F15-BC38-677D-78BA-14DB264EF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vi-VN" sz="2000" b="1" dirty="0">
                <a:solidFill>
                  <a:srgbClr val="0C325A"/>
                </a:solidFill>
                <a:latin typeface="+mj-lt"/>
              </a:rPr>
              <a:t>Đồ thị là gì ?</a:t>
            </a:r>
            <a:br>
              <a:rPr lang="vi-VN" sz="2000" b="1" dirty="0">
                <a:solidFill>
                  <a:srgbClr val="0C325A"/>
                </a:solidFill>
                <a:latin typeface="+mj-lt"/>
              </a:rPr>
            </a:b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lưới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tạp.</a:t>
            </a:r>
            <a:endParaRPr lang="vi-VN" sz="1800" dirty="0">
              <a:solidFill>
                <a:srgbClr val="0D1A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Đỉnh (Vertex)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Cạnh (Edge)</a:t>
            </a:r>
            <a:endParaRPr lang="vi-VN" sz="2000" dirty="0">
              <a:solidFill>
                <a:srgbClr val="0D1A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vi-VN" sz="2000" dirty="0">
              <a:solidFill>
                <a:srgbClr val="0D1A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51B138-46DB-DF86-0C6A-089574F6D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135" y="1690688"/>
            <a:ext cx="4003665" cy="428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4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D943-224C-1366-6D7D-B789E47EE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0C2D-CB87-7F8F-7F5E-182D59D2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000" b="1" dirty="0">
                <a:solidFill>
                  <a:srgbClr val="0C325A"/>
                </a:solidFill>
              </a:rPr>
              <a:t>GIỚI THIỆU</a:t>
            </a:r>
            <a:endParaRPr lang="en-US" sz="4000" b="1" dirty="0">
              <a:solidFill>
                <a:srgbClr val="0C325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0BD7-493D-5510-EBC8-72FB1C6EC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rgbClr val="0C325A"/>
                </a:solidFill>
                <a:latin typeface="+mj-lt"/>
              </a:rPr>
              <a:t>Ứng dụng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b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</a:t>
            </a: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lập lịch di chuyển robot</a:t>
            </a:r>
          </a:p>
          <a:p>
            <a:pPr marL="0" indent="0">
              <a:buNone/>
            </a:pPr>
            <a:endParaRPr lang="vi-VN" sz="2000" b="1" dirty="0">
              <a:solidFill>
                <a:srgbClr val="0C32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B8ED0-FEDD-16BA-143C-D7E9458ED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135" y="1690688"/>
            <a:ext cx="4003665" cy="428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9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1B06A-F2E1-EBC0-2806-A9DFA917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0E4B-FC34-54C1-B7EE-9E2836045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000" b="1" dirty="0">
                <a:solidFill>
                  <a:srgbClr val="0C325A"/>
                </a:solidFill>
              </a:rPr>
              <a:t>THUẬT TOÁN HAMILTON</a:t>
            </a:r>
            <a:endParaRPr lang="en-US" sz="4000" b="1" dirty="0">
              <a:solidFill>
                <a:srgbClr val="0C325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6DC88-CFAA-6208-703E-9937C434C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rgbClr val="0C325A"/>
                </a:solidFill>
                <a:latin typeface="+mj-lt"/>
                <a:cs typeface="Times New Roman" panose="02020603050405020304" pitchFamily="18" charset="0"/>
              </a:rPr>
              <a:t>Khái niệm về hamilton</a:t>
            </a:r>
            <a:br>
              <a:rPr lang="vi-VN" sz="2000" b="1" dirty="0">
                <a:solidFill>
                  <a:srgbClr val="0C325A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Hamilton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Lý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lần.</a:t>
            </a:r>
            <a:endParaRPr lang="vi-VN" sz="1800" b="1" dirty="0">
              <a:solidFill>
                <a:srgbClr val="0D1A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ường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 </a:t>
            </a:r>
            <a:r>
              <a:rPr lang="en-US" sz="2000" b="1" dirty="0" err="1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Hamilton</a:t>
            </a:r>
            <a:br>
              <a:rPr lang="vi-VN" sz="2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 đi hamilton</a:t>
            </a: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 trình hamilton</a:t>
            </a: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khép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000" dirty="0">
              <a:solidFill>
                <a:srgbClr val="0D1A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733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4F93-F90C-5C8A-CD53-5AB5C16E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74E6-6D59-B6D4-A039-43C6E29F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 dirty="0">
                <a:solidFill>
                  <a:srgbClr val="0C325A"/>
                </a:solidFill>
              </a:rPr>
              <a:t>VÍ DỤ HAMILTON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3033A2-35AF-5223-0920-F30396AB5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1057"/>
            <a:ext cx="5257800" cy="28881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2E5667-334E-4982-4085-A093A9E6E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1057"/>
            <a:ext cx="4686743" cy="288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5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3470-3192-DC9C-8AAE-F7D43DE3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0E15-920F-239F-1194-6C5D3784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 dirty="0">
                <a:solidFill>
                  <a:srgbClr val="0C325A"/>
                </a:solidFill>
              </a:rPr>
              <a:t>CÁCH GIẢI HAMILTON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C31F-A05B-45DE-19A0-CB4644F5A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 dùng phương pháp</a:t>
            </a:r>
            <a:b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(quay lui)</a:t>
            </a:r>
          </a:p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tưởng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Chọn một đỉnh bắt đầu.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Lần lượt đi đến các đỉnh chưa được thăm.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Nếu không đi tiếp được thì quay lui.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Nếu đi qua tất cả đỉnh đúng một lần thì tìm được nghiệm.</a:t>
            </a:r>
            <a:endParaRPr lang="en-US" sz="2000" dirty="0">
              <a:solidFill>
                <a:srgbClr val="0D1A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6F633A-CAFC-7A6A-BB38-463DA5F04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532" y="1690689"/>
            <a:ext cx="4005268" cy="342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1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0F83C-6545-71E9-DED3-8000C0FA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4740-A291-B2AB-6704-66E196EF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 dirty="0">
                <a:solidFill>
                  <a:srgbClr val="0C325A"/>
                </a:solidFill>
              </a:rPr>
              <a:t>THUẬT TOÁN DIJKSTRA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F538E-D832-A170-AB2F-2F3FDEAC3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Dijkstra tìm đường đi ngắn nhất từ một 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đỉnh nguồn đến tất cả các đỉnh còn lại trong đồ thị 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trọng số không âm.</a:t>
            </a:r>
          </a:p>
          <a:p>
            <a:pPr>
              <a:lnSpc>
                <a:spcPct val="150000"/>
              </a:lnSpc>
            </a:pP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tìm được đường đi ngắn nhất khi </a:t>
            </a:r>
            <a:b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solidFill>
                  <a:srgbClr val="0D1A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 cả trọng số không âm.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4AE33-6FFA-C784-4528-DA6470840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597" y="1825625"/>
            <a:ext cx="4383931" cy="31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56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2163-AA19-C516-1743-2B908133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229B-D2EA-B956-7A19-59AB58B9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 dirty="0">
                <a:solidFill>
                  <a:srgbClr val="0C325A"/>
                </a:solidFill>
              </a:rPr>
              <a:t>VÍ DỤ DIJKSTRA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3ADEF3-7FC3-D77A-6DC6-4D09EFBE7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88" y="1690688"/>
            <a:ext cx="4680540" cy="45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9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9942-DF18-AEE5-94B4-7371F5F12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EB8-2051-5944-614C-900252AB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 dirty="0">
                <a:solidFill>
                  <a:srgbClr val="0C325A"/>
                </a:solidFill>
              </a:rPr>
              <a:t>CÔNG THỨC DIJKSTRA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96B4-A9FC-3DB9-10EB-0453B6891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thức cập nhật khoảng cách:</a:t>
            </a:r>
          </a:p>
          <a:p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đó: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dist[v]: khoảng cách ngắn nhất tạm thời từ nguồn đến đỉnh v. 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dist[u]: khoảng cách ngắn nhất từ nguồn đến u. </a:t>
            </a:r>
            <a:b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w(u, v): trọng số cạnh từ u đến v.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78210-BF8D-8D6B-B3A9-A791ED70A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397" y="2297403"/>
            <a:ext cx="4648603" cy="617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AD9E3-DBF7-ED89-071E-6C475BDE1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944" y="1825625"/>
            <a:ext cx="3800856" cy="349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1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F43A-E3F4-16DC-D4DA-60BA0DF01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BDB1-008F-E763-6F64-D2E6F9CD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3900" b="1" dirty="0">
                <a:solidFill>
                  <a:srgbClr val="0C325A"/>
                </a:solidFill>
              </a:rPr>
              <a:t>SỰ KHÁC NHAU HAMILTON VÀ DIJKSTRA</a:t>
            </a:r>
            <a:endParaRPr lang="en-US" sz="39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D22914-4064-4950-9AD2-6A5B71C0D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041595"/>
              </p:ext>
            </p:extLst>
          </p:nvPr>
        </p:nvGraphicFramePr>
        <p:xfrm>
          <a:off x="1298448" y="1690688"/>
          <a:ext cx="9595104" cy="3822192"/>
        </p:xfrm>
        <a:graphic>
          <a:graphicData uri="http://schemas.openxmlformats.org/drawingml/2006/table">
            <a:tbl>
              <a:tblPr/>
              <a:tblGrid>
                <a:gridCol w="3198368">
                  <a:extLst>
                    <a:ext uri="{9D8B030D-6E8A-4147-A177-3AD203B41FA5}">
                      <a16:colId xmlns:a16="http://schemas.microsoft.com/office/drawing/2014/main" val="1858094554"/>
                    </a:ext>
                  </a:extLst>
                </a:gridCol>
                <a:gridCol w="3198368">
                  <a:extLst>
                    <a:ext uri="{9D8B030D-6E8A-4147-A177-3AD203B41FA5}">
                      <a16:colId xmlns:a16="http://schemas.microsoft.com/office/drawing/2014/main" val="1284482771"/>
                    </a:ext>
                  </a:extLst>
                </a:gridCol>
                <a:gridCol w="3198368">
                  <a:extLst>
                    <a:ext uri="{9D8B030D-6E8A-4147-A177-3AD203B41FA5}">
                      <a16:colId xmlns:a16="http://schemas.microsoft.com/office/drawing/2014/main" val="4005494158"/>
                    </a:ext>
                  </a:extLst>
                </a:gridCol>
              </a:tblGrid>
              <a:tr h="637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b="1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lang="en-US" b="1" dirty="0">
                        <a:solidFill>
                          <a:srgbClr val="0D1A2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Hamilton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Dijkstra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031387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tiêu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 qua tất cả đỉnh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</a:t>
                      </a:r>
                      <a:r>
                        <a:rPr lang="en-US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đường</a:t>
                      </a:r>
                      <a:r>
                        <a:rPr lang="en-US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ngắn</a:t>
                      </a:r>
                      <a:r>
                        <a:rPr lang="en-US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endParaRPr lang="en-US" dirty="0">
                        <a:solidFill>
                          <a:srgbClr val="0D1A2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93416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Trọng số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 cần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Bắt buộc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910604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 khó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Rất</a:t>
                      </a:r>
                      <a:r>
                        <a:rPr lang="en-US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</a:t>
                      </a:r>
                      <a:endParaRPr lang="en-US" dirty="0">
                        <a:solidFill>
                          <a:srgbClr val="0D1A2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Hiệu quả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963482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Cách giải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670084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 giao hàng</a:t>
                      </a:r>
                      <a:endParaRPr lang="en-US" dirty="0">
                        <a:solidFill>
                          <a:srgbClr val="0D1A2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GPS, </a:t>
                      </a:r>
                      <a:r>
                        <a:rPr lang="en-US" dirty="0" err="1">
                          <a:solidFill>
                            <a:srgbClr val="0D1A2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endParaRPr lang="en-US" dirty="0">
                        <a:solidFill>
                          <a:srgbClr val="0D1A2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11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83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8686-2427-D8BD-43AB-586DB836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BE41-44ED-7121-A650-B2A59E6B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b="1" dirty="0">
                <a:solidFill>
                  <a:srgbClr val="0C325A"/>
                </a:solidFill>
              </a:rPr>
              <a:t>KẾT LUẬN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49B07-F08F-62D6-A2FF-D2D2E4A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Hamilton và Dijkstra là hai thuật toán quan trọng trong lý thuyết đồ thị.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Hamilton giải quyết bài toán đi qua tất cả các đỉnh một lần, thường dùng Backtracking.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 tìm đường đi ngắn nhất trong đồ thị trọng số không âm, hiệu quả và ứng dụng rộng rãi. </a:t>
            </a:r>
          </a:p>
          <a:p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Việc hiểu rõ bản chất và cách hoạt động của hai thuật toán giúp ta giải quyết nhiều bài toán thực tế.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003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D8B4-E3D9-72B7-B56E-27925AA06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42AF-2C53-0590-5EEF-37272DEB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EEF85-341A-07A1-E9ED-F08FB7CFF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vi-VN" sz="6000" b="1" dirty="0">
              <a:solidFill>
                <a:srgbClr val="0C32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vi-VN" sz="6000" b="1" dirty="0">
                <a:solidFill>
                  <a:srgbClr val="0C32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224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601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MÔN HỌC: TOÁN RỜI RẠC</vt:lpstr>
      <vt:lpstr>GIỚI THIỆU</vt:lpstr>
      <vt:lpstr>GIỚI THIỆU</vt:lpstr>
      <vt:lpstr>THUẬT TOÁN HAMILTON</vt:lpstr>
      <vt:lpstr>VÍ DỤ HAMILTON</vt:lpstr>
      <vt:lpstr>CÁCH GIẢI HAMILTON</vt:lpstr>
      <vt:lpstr>THUẬT TOÁN DIJKSTRA</vt:lpstr>
      <vt:lpstr>VÍ DỤ DIJKSTRA</vt:lpstr>
      <vt:lpstr>CÔNG THỨC DIJKSTRA</vt:lpstr>
      <vt:lpstr>SỰ KHÁC NHAU HAMILTON VÀ DIJKSTRA</vt:lpstr>
      <vt:lpstr>KẾT LUẬN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Nguyen Manh Hung</dc:creator>
  <cp:lastModifiedBy>Le Nguyen Manh Hung</cp:lastModifiedBy>
  <cp:revision>3</cp:revision>
  <dcterms:created xsi:type="dcterms:W3CDTF">2026-06-16T14:54:31Z</dcterms:created>
  <dcterms:modified xsi:type="dcterms:W3CDTF">2026-06-16T18:15:22Z</dcterms:modified>
</cp:coreProperties>
</file>